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entitleflow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EntitleFlow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Land Entitlement Teams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10+ hours per permit cycle by turning unstructured reviewer PDF comments into trackable, assignable, AI-assisted workflows.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entitleflow.com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1A5C4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permit set submission, development teams receive PDF redline packages full of reviewer comments — with no structured way to track, assign, respond to, or resolve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Scattered Feedback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buried in PDF markups across dozens of pages from multiple reviewers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210312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3317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Tracking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657600" y="3154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email chains to manage comment resolution across team members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210312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317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Turnaround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92240" y="3154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lost to miscommunication, missed comments, and incomplete resubmittals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Context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Carolina's fragmented municipal review landscape has no digital infrastructure for managing the permit review cycle.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60320" cy="246888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40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ED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Municipalities in NC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unique ordinances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560320" cy="246888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240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74904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ED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Purpose-Built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comment tracking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2560320" cy="246888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240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ED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Process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spreadsheets, email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turns permit review chaos into a structured, AI-assisted workflow.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D4EDE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&amp; Parse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permit review PDFs — Document AI auto-extracts every reviewer comment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73736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011680"/>
            <a:ext cx="548640" cy="548640"/>
          </a:xfrm>
          <a:prstGeom prst="ellipse">
            <a:avLst/>
          </a:prstGeom>
          <a:solidFill>
            <a:srgbClr val="D4EDE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 &amp; Assign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6928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comment is categorized, assigned to team members, and tracked to resolution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29184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566160"/>
            <a:ext cx="548640" cy="548640"/>
          </a:xfrm>
          <a:prstGeom prst="ellipse">
            <a:avLst/>
          </a:prstGeom>
          <a:solidFill>
            <a:srgbClr val="D4EDE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6758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AI-Assisted Response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794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responses using NC building code knowledge — tailored to the jurisdiction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54880" y="329184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566160"/>
            <a:ext cx="548640" cy="548640"/>
          </a:xfrm>
          <a:prstGeom prst="ellipse">
            <a:avLst/>
          </a:prstGeom>
          <a:solidFill>
            <a:srgbClr val="D4EDE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6758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Compile &amp; Resubmit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69280" y="3794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everything for a clean, complete resubmittal to the municipality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PDF upload to resubmittal — in one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C49A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830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PDF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review package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14600" y="1645920"/>
            <a:ext cx="640080" cy="640080"/>
          </a:xfrm>
          <a:prstGeom prst="ellipse">
            <a:avLst/>
          </a:prstGeom>
          <a:solidFill>
            <a:srgbClr val="C49A3C"/>
          </a:solidFill>
          <a:ln/>
        </p:spPr>
      </p:sp>
      <p:sp>
        <p:nvSpPr>
          <p:cNvPr id="10" name="Text 7"/>
          <p:cNvSpPr/>
          <p:nvPr/>
        </p:nvSpPr>
        <p:spPr>
          <a:xfrm>
            <a:off x="25146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7830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456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Auto-Parse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194560" y="2834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extracts comments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51960" y="1645920"/>
            <a:ext cx="640080" cy="640080"/>
          </a:xfrm>
          <a:prstGeom prst="ellipse">
            <a:avLst/>
          </a:prstGeom>
          <a:solidFill>
            <a:srgbClr val="C49A3C"/>
          </a:solidFill>
          <a:ln/>
        </p:spPr>
      </p:sp>
      <p:sp>
        <p:nvSpPr>
          <p:cNvPr id="15" name="Text 11"/>
          <p:cNvSpPr/>
          <p:nvPr/>
        </p:nvSpPr>
        <p:spPr>
          <a:xfrm>
            <a:off x="4251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830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 &amp; Track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931920" y="2834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resolve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989320" y="1645920"/>
            <a:ext cx="640080" cy="640080"/>
          </a:xfrm>
          <a:prstGeom prst="ellipse">
            <a:avLst/>
          </a:prstGeom>
          <a:solidFill>
            <a:srgbClr val="C49A3C"/>
          </a:solidFill>
          <a:ln/>
        </p:spPr>
      </p:sp>
      <p:sp>
        <p:nvSpPr>
          <p:cNvPr id="20" name="Text 15"/>
          <p:cNvSpPr/>
          <p:nvPr/>
        </p:nvSpPr>
        <p:spPr>
          <a:xfrm>
            <a:off x="59893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7830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69280" y="2834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code-backed responses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726680" y="1645920"/>
            <a:ext cx="640080" cy="640080"/>
          </a:xfrm>
          <a:prstGeom prst="ellipse">
            <a:avLst/>
          </a:prstGeom>
          <a:solidFill>
            <a:srgbClr val="C49A3C"/>
          </a:solidFill>
          <a:ln/>
        </p:spPr>
      </p:sp>
      <p:sp>
        <p:nvSpPr>
          <p:cNvPr id="25" name="Text 19"/>
          <p:cNvSpPr/>
          <p:nvPr/>
        </p:nvSpPr>
        <p:spPr>
          <a:xfrm>
            <a:off x="77266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40664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Resubmit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406640" y="2834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clean package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solidFill>
            <a:srgbClr val="1A5C4F"/>
          </a:solidFill>
          <a:ln/>
        </p:spPr>
      </p:sp>
      <p:sp>
        <p:nvSpPr>
          <p:cNvPr id="29" name="Text 23"/>
          <p:cNvSpPr/>
          <p:nvPr/>
        </p:nvSpPr>
        <p:spPr>
          <a:xfrm>
            <a:off x="109728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10+ hrs</a:t>
            </a:r>
            <a:endParaRPr lang="en-US" sz="2600" dirty="0"/>
          </a:p>
        </p:txBody>
      </p:sp>
      <p:sp>
        <p:nvSpPr>
          <p:cNvPr id="30" name="Text 24"/>
          <p:cNvSpPr/>
          <p:nvPr/>
        </p:nvSpPr>
        <p:spPr>
          <a:xfrm>
            <a:off x="109728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permit cycle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374904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2600" dirty="0"/>
          </a:p>
        </p:txBody>
      </p:sp>
      <p:sp>
        <p:nvSpPr>
          <p:cNvPr id="32" name="Text 26"/>
          <p:cNvSpPr/>
          <p:nvPr/>
        </p:nvSpPr>
        <p:spPr>
          <a:xfrm>
            <a:off x="374904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missed comments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40080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2600" dirty="0"/>
          </a:p>
        </p:txBody>
      </p:sp>
      <p:sp>
        <p:nvSpPr>
          <p:cNvPr id="34" name="Text 28"/>
          <p:cNvSpPr/>
          <p:nvPr/>
        </p:nvSpPr>
        <p:spPr>
          <a:xfrm>
            <a:off x="640080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resubmittal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operating system for development approval workflows.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D4EDE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928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&amp; KPIs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project health, comment resolution rates, team workload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1645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783080"/>
            <a:ext cx="457200" cy="457200"/>
          </a:xfrm>
          <a:prstGeom prst="ellipse">
            <a:avLst/>
          </a:prstGeom>
          <a:solidFill>
            <a:srgbClr val="D4EDE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8928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Tracker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reviewer comment classified, assigned, and tracked to close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645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D4EDE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8928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Suggestions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4652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 chatbot drafts code-compliant responses in seconds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20040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D4EDE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4472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View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project locations and jurisdiction boundaries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74720" y="320040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11880" y="3337560"/>
            <a:ext cx="457200" cy="457200"/>
          </a:xfrm>
          <a:prstGeom prst="ellipse">
            <a:avLst/>
          </a:prstGeom>
          <a:solidFill>
            <a:srgbClr val="D4EDE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608" y="344728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Management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1188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workload balancing, and assignment notifications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309360" y="320040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46520" y="3337560"/>
            <a:ext cx="457200" cy="457200"/>
          </a:xfrm>
          <a:prstGeom prst="ellipse">
            <a:avLst/>
          </a:prstGeom>
          <a:solidFill>
            <a:srgbClr val="D4EDE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44728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&amp; Reports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4652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analysis, bottleneck identification, audit trail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Intelligence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specialized AI agents work behind the scenes to automate the permit review workflow.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82496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Parser — extracts comments from any PDF format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21408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08483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Classifier — categorizes by discipline and severity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5237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Drafter — generates code-backed reply suggestions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99232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296265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Lookup — references NC building codes and ordinances</a:t>
            </a:r>
            <a:endParaRPr lang="en-US" sz="11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38144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34015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Resubmittal Compiler — assembles clean response packages</a:t>
            </a:r>
            <a:endParaRPr lang="en-US" sz="11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77056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05840" y="38404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 Chatbot — natural language Q&amp;A for your team</a:t>
            </a:r>
            <a:endParaRPr lang="en-US" sz="11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315968"/>
            <a:ext cx="256032" cy="25603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05840" y="42793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Agent — keeps assignments and deadlines on track</a:t>
            </a:r>
            <a:endParaRPr lang="en-US" sz="1150" dirty="0"/>
          </a:p>
        </p:txBody>
      </p:sp>
      <p:sp>
        <p:nvSpPr>
          <p:cNvPr id="18" name="Shape 9"/>
          <p:cNvSpPr/>
          <p:nvPr/>
        </p:nvSpPr>
        <p:spPr>
          <a:xfrm>
            <a:off x="5669280" y="1645920"/>
            <a:ext cx="3017520" cy="301752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19" name="Text 10"/>
          <p:cNvSpPr/>
          <p:nvPr/>
        </p:nvSpPr>
        <p:spPr>
          <a:xfrm>
            <a:off x="594360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5943600" y="22860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Document AI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(Gemini)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Jurisdiction Intelligence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NC-first: deep knowledge of local ordinances and review processes.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1234440"/>
          </a:xfrm>
          <a:prstGeom prst="rect">
            <a:avLst/>
          </a:prstGeom>
          <a:solidFill>
            <a:srgbClr val="1A5C4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64008" cy="1234440"/>
          </a:xfrm>
          <a:prstGeom prst="rect">
            <a:avLst/>
          </a:prstGeom>
          <a:solidFill>
            <a:srgbClr val="C49A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Greensboro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1783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Greensboro Development Ordinance — full code reference and review patterns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749040" cy="1234440"/>
          </a:xfrm>
          <a:prstGeom prst="rect">
            <a:avLst/>
          </a:prstGeom>
          <a:solidFill>
            <a:srgbClr val="1A5C4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645920"/>
            <a:ext cx="64008" cy="1234440"/>
          </a:xfrm>
          <a:prstGeom prst="rect">
            <a:avLst/>
          </a:prstGeom>
          <a:solidFill>
            <a:srgbClr val="C49A3C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Raleigh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0" y="1783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148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Development Ordinance — zoning, subdivision, and site plan rules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3749040" cy="1234440"/>
          </a:xfrm>
          <a:prstGeom prst="rect">
            <a:avLst/>
          </a:prstGeom>
          <a:solidFill>
            <a:srgbClr val="1A5C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154680"/>
            <a:ext cx="64008" cy="1234440"/>
          </a:xfrm>
          <a:prstGeom prst="rect">
            <a:avLst/>
          </a:prstGeom>
          <a:solidFill>
            <a:srgbClr val="C49A3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Charlotte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3291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657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Charlotte’s updated UDO — rezoning and conditional district knowledge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54680"/>
            <a:ext cx="3749040" cy="1234440"/>
          </a:xfrm>
          <a:prstGeom prst="rect">
            <a:avLst/>
          </a:prstGeom>
          <a:solidFill>
            <a:srgbClr val="1A5C4F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154680"/>
            <a:ext cx="64008" cy="1234440"/>
          </a:xfrm>
          <a:prstGeom prst="rect">
            <a:avLst/>
          </a:prstGeom>
          <a:solidFill>
            <a:srgbClr val="C49A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Durham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89520" y="3291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657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Durham development regulations — stormwater, landscape, and access standards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Market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Uses EntitleFlow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engineering firms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practices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planners &amp; surveyors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contractors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developers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5–50 person firms managing multiple active permits across NC municipalities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Sizing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828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38,000+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NC-licensed design firms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4,200+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2064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permit-filing firms in top metros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3566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2064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&amp; Triad firms, 5–50 employees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1945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1401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active projects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98064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7614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&amp; parsing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82112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1455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comment tracking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6616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529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3474720" y="1188720"/>
            <a:ext cx="2560320" cy="3474720"/>
          </a:xfrm>
          <a:prstGeom prst="rect">
            <a:avLst/>
          </a:prstGeom>
          <a:solidFill>
            <a:srgbClr val="0F3C3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365760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365760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seat/month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3657600" y="2194560"/>
            <a:ext cx="2194560" cy="0"/>
          </a:xfrm>
          <a:prstGeom prst="line">
            <a:avLst/>
          </a:prstGeom>
          <a:noFill/>
          <a:ln w="12700">
            <a:solidFill>
              <a:srgbClr val="1A5C4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2414016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31920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projects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798064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931920" y="27614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responses</a:t>
            </a:r>
            <a:endParaRPr lang="en-US" sz="10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3182112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931920" y="31455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 &amp; RBAC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356616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931920" y="3529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intelligence</a:t>
            </a:r>
            <a:endParaRPr lang="en-US" sz="10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3950208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931920" y="3913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50" dirty="0"/>
          </a:p>
        </p:txBody>
      </p:sp>
      <p:sp>
        <p:nvSpPr>
          <p:cNvPr id="29" name="Shape 18"/>
          <p:cNvSpPr/>
          <p:nvPr/>
        </p:nvSpPr>
        <p:spPr>
          <a:xfrm>
            <a:off x="630936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19"/>
          <p:cNvSpPr/>
          <p:nvPr/>
        </p:nvSpPr>
        <p:spPr>
          <a:xfrm>
            <a:off x="64922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31" name="Text 20"/>
          <p:cNvSpPr/>
          <p:nvPr/>
        </p:nvSpPr>
        <p:spPr>
          <a:xfrm>
            <a:off x="649224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400" dirty="0"/>
          </a:p>
        </p:txBody>
      </p:sp>
      <p:sp>
        <p:nvSpPr>
          <p:cNvPr id="32" name="Shape 21"/>
          <p:cNvSpPr/>
          <p:nvPr/>
        </p:nvSpPr>
        <p:spPr>
          <a:xfrm>
            <a:off x="6492240" y="2194560"/>
            <a:ext cx="21945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2414016"/>
            <a:ext cx="182880" cy="18288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766560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everything</a:t>
            </a:r>
            <a:endParaRPr lang="en-US" sz="105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2798064"/>
            <a:ext cx="182880" cy="18288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766560" y="27614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05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3182112"/>
            <a:ext cx="182880" cy="182880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766560" y="31455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onboarding</a:t>
            </a:r>
            <a:endParaRPr lang="en-US" sz="105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3566160"/>
            <a:ext cx="182880" cy="182880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6766560" y="3529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admin controls</a:t>
            </a:r>
            <a:endParaRPr lang="en-US" sz="1050" dirty="0"/>
          </a:p>
        </p:txBody>
      </p:sp>
      <p:sp>
        <p:nvSpPr>
          <p:cNvPr id="41" name="Text 26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launches Q3 2026  —  Currently in early-access with founder-led onboarding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deployed, and in use. EntitleFlow is not a concept — it’s a product.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749040" cy="1188720"/>
          </a:xfrm>
          <a:prstGeom prst="rect">
            <a:avLst/>
          </a:prstGeom>
          <a:solidFill>
            <a:srgbClr val="1A5C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deployed at entitleflow.com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737360"/>
            <a:ext cx="3749040" cy="1188720"/>
          </a:xfrm>
          <a:prstGeom prst="rect">
            <a:avLst/>
          </a:prstGeom>
          <a:solidFill>
            <a:srgbClr val="1A5C4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874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Stack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Supabase + GCP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3749040" cy="1188720"/>
          </a:xfrm>
          <a:prstGeom prst="rect">
            <a:avLst/>
          </a:prstGeom>
          <a:solidFill>
            <a:srgbClr val="1A5C4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37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Agents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operational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3749040" cy="1188720"/>
          </a:xfrm>
          <a:prstGeom prst="rect">
            <a:avLst/>
          </a:prstGeom>
          <a:solidFill>
            <a:srgbClr val="1A5C4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337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Cities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jurisdiction knowledge built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41148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Founder-Led Sales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 to NC firms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calling + AI-assisted prospecting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demos and onboarding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reference customers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560320" cy="41148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&amp; Scale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2194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campaigns &amp; LinkedIn content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presence (AEC industry)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 with early adopters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from NC deployments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560320" cy="41148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Growth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94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SC, VA, GA metros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engineering associations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partnerships with AEC tools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54864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1143000"/>
            <a:ext cx="320040" cy="320040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built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pipeline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data (4 cities)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143000"/>
            <a:ext cx="320040" cy="320040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97480" y="1828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214884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threading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ingestion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AI responses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views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1143000"/>
            <a:ext cx="320040" cy="320040"/>
          </a:xfrm>
          <a:prstGeom prst="ellipse">
            <a:avLst/>
          </a:prstGeom>
          <a:solidFill>
            <a:srgbClr val="8A8A7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subscriptions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integrations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jurisdictions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89520" y="1143000"/>
            <a:ext cx="320040" cy="320040"/>
          </a:xfrm>
          <a:prstGeom prst="ellipse">
            <a:avLst/>
          </a:prstGeom>
          <a:solidFill>
            <a:srgbClr val="8A8A7A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2026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1828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214884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Multi-state expansion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features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integrations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463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Founder-Led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is built by someone who understands both the development process and modern software. The product is designed from first principles around the actual pain points of NC development teams — not by a team that read about construction tech in a VC pitch.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engineering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React, TypeScript, GCP, Supabase, AI/ML integration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development landscape, municipal review processes, building codes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philosophy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fast, stay close to customers, build what they actually need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streamline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permit workflow?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walkthrough and see EntitleFlow in action.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C49A3C"/>
          </a:solidFill>
          <a:ln/>
        </p:spPr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731520" y="3200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0F3C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entitleflow.com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 |  North Carolina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1A5C4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EntitleFlow — Pitch Deck</dc:title>
  <dc:subject>PptxGenJS Presentation</dc:subject>
  <dc:creator>EntitleFlow</dc:creator>
  <cp:lastModifiedBy>EntitleFlow</cp:lastModifiedBy>
  <cp:revision>1</cp:revision>
  <dcterms:created xsi:type="dcterms:W3CDTF">2026-03-22T00:21:50Z</dcterms:created>
  <dcterms:modified xsi:type="dcterms:W3CDTF">2026-03-22T00:21:50Z</dcterms:modified>
</cp:coreProperties>
</file>